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E1B2D"/>
          </a:solidFill>
          <a:ln w="12700">
            <a:solidFill>
              <a:srgbClr val="0E1B2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0" y="-777240"/>
            <a:ext cx="3931920" cy="3931920"/>
          </a:xfrm>
          <a:prstGeom prst="arc">
            <a:avLst/>
          </a:prstGeom>
          <a:solidFill>
            <a:srgbClr val="5ED7C4">
              <a:alpha val="90000"/>
            </a:srgbClr>
          </a:solidFill>
          <a:ln w="12700">
            <a:solidFill>
              <a:srgbClr val="5ED7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5074920"/>
            <a:ext cx="3749040" cy="3749040"/>
          </a:xfrm>
          <a:prstGeom prst="arc">
            <a:avLst/>
          </a:prstGeom>
          <a:solidFill>
            <a:srgbClr val="FF6B5E">
              <a:alpha val="92000"/>
            </a:srgbClr>
          </a:solidFill>
          <a:ln w="12700">
            <a:solidFill>
              <a:srgbClr val="FF6B5E">
                <a:alpha val="0"/>
              </a:srgbClr>
            </a:solidFill>
            <a:prstDash val="solid"/>
          </a:ln>
        </p:spPr>
      </p:sp>
      <p:pic>
        <p:nvPicPr>
          <p:cNvPr id="5" name="Image 0" descr="/opt/artshift/public/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530352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5852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จากเครื่องมือออกแบบ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สู่ Creative Operations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สำหรับ Book Commerce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58368" y="395935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DEB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นำข้อมูลหนังสือ + asset ที่อนุมัติแล้ว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DEB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ไปสร้าง creative pack หลายช่องทางที่แก้ไขต่อได้ ตรวจสอบได้ และ scale ได้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" y="5715000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572414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EXECUTIVE PRODUCT NARRATIVE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60920" y="576986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B6C6D9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Product review · Current state · Future operating 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464040" y="60899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B6C6D9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14 กันยายน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THE THESIS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ไฟล์งาน 1 ชุด ไม่ควรกลายเป็น 10 เวอร์ชันที่ต้องแก้มือ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เปลี่ยนงาน creative จากการผลิตทีละชิ้น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เป็นระบบที่ผลิตซ้ำได้ ปลอดภัยต่อข้อมูล และวัดผลได้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6675120" cy="1024128"/>
          </a:xfrm>
          <a:prstGeom prst="roundRect">
            <a:avLst>
              <a:gd name="adj" fmla="val 7143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0266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 book SKU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2267712" y="3200400"/>
            <a:ext cx="722376" cy="0"/>
          </a:xfrm>
          <a:prstGeom prst="line">
            <a:avLst/>
          </a:prstGeom>
          <a:noFill/>
          <a:ln w="30480">
            <a:solidFill>
              <a:srgbClr val="5ED7C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00400" y="29535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 approved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creative pack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46320" y="3200400"/>
            <a:ext cx="731520" cy="0"/>
          </a:xfrm>
          <a:prstGeom prst="line">
            <a:avLst/>
          </a:prstGeom>
          <a:noFill/>
          <a:ln w="30480">
            <a:solidFill>
              <a:srgbClr val="5ED7C4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742432" y="302666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ทุกช่องทาง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54112" y="16916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801368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63840" y="2167128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เวลาผลิต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25712" y="16916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801368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B5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35440" y="2167128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rework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497312" y="169164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0" y="1801368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A7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↑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607040" y="2167128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capacity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54112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Product promise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54112" y="32644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ความเร็ว + ความถูกต้อง + ความสามารถในการนำกลับมาใช้ซ้ำ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54112" y="382219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บริษัทไม่ได้ซื้อแค่ editor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แต่ซื้อ operating leverage ของทีม marketing/design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งานโฆษณาหนังสือโตตามจำนวน SKU — แต่กระบวนการผลิตยังโตตามจำนวนคน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164592" cy="164592"/>
          </a:xfrm>
          <a:prstGeom prst="ellipse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756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87552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Brief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รับข้อมูลจากหลายแหล่ง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2386584"/>
            <a:ext cx="246888" cy="0"/>
          </a:xfrm>
          <a:prstGeom prst="line">
            <a:avLst/>
          </a:prstGeom>
          <a:noFill/>
          <a:ln w="1651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68880" y="1847088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33472" y="2057400"/>
            <a:ext cx="164592" cy="164592"/>
          </a:xfrm>
          <a:prstGeom prst="ellipse">
            <a:avLst/>
          </a:prstGeom>
          <a:solidFill>
            <a:srgbClr val="7567E8"/>
          </a:solidFill>
          <a:ln w="12700">
            <a:solidFill>
              <a:srgbClr val="756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20756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89504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33472" y="244144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ทำชิ้นแรกด้วยมือ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50792" y="2386584"/>
            <a:ext cx="246888" cy="0"/>
          </a:xfrm>
          <a:prstGeom prst="line">
            <a:avLst/>
          </a:prstGeom>
          <a:noFill/>
          <a:ln w="1651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70832" y="1847088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35424" y="2057400"/>
            <a:ext cx="164592" cy="164592"/>
          </a:xfrm>
          <a:prstGeom prst="ellipse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20756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91456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Resize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35424" y="244144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สร้างหลาย format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52744" y="2386584"/>
            <a:ext cx="246888" cy="0"/>
          </a:xfrm>
          <a:prstGeom prst="line">
            <a:avLst/>
          </a:prstGeom>
          <a:noFill/>
          <a:ln w="1651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72784" y="1847088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2057400"/>
            <a:ext cx="164592" cy="164592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20756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3408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Revise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37376" y="244144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แก้ราคา/ข้อความ/ปก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854696" y="2386584"/>
            <a:ext cx="246888" cy="0"/>
          </a:xfrm>
          <a:prstGeom prst="line">
            <a:avLst/>
          </a:prstGeom>
          <a:noFill/>
          <a:ln w="1651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74736" y="1847088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2057400"/>
            <a:ext cx="164592" cy="164592"/>
          </a:xfrm>
          <a:prstGeom prst="ellipse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20756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95360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Export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39328" y="244144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ตั้งชื่อและแยกไฟล์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756648" y="2386584"/>
            <a:ext cx="246888" cy="0"/>
          </a:xfrm>
          <a:prstGeom prst="line">
            <a:avLst/>
          </a:prstGeom>
          <a:noFill/>
          <a:ln w="1651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076688" y="1847088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41280" y="2057400"/>
            <a:ext cx="164592" cy="164592"/>
          </a:xfrm>
          <a:prstGeom prst="ellipse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0" y="20756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497312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Handoff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41280" y="244144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ส่งต่อหลายทีม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5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ต้นทุนที่มองไม่เห็น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66928" y="397764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ค้นหาไฟล์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8096" y="4462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asset และ version กระจายอยู่หลายที่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34256" y="397764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35424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แก้ซ้ำ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35424" y="4462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ราคา / ข้อความ / promotion เปลี่ยนแล้วตกหล่น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01584" y="397764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02752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ส่งต่อ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302752" y="4462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ตั้งชื่อไฟล์และ upload ซ้ำทุกช่องทาง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66928" y="5468112"/>
            <a:ext cx="10991088" cy="566928"/>
          </a:xfrm>
          <a:prstGeom prst="roundRect">
            <a:avLst>
              <a:gd name="adj" fmla="val 12903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" y="562356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ผลกระทบทางธุรกิจ: launch ช้าลง · brand ไม่สม่ำเสมอ · capacity ไม่เพิ่มตาม demand · rework กิน margin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WHAT EXISTS TODAY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มีแกน production engine ที่ลึกกว่าหน้าตา editor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1956816" cy="2176272"/>
          </a:xfrm>
          <a:prstGeom prst="roundRect">
            <a:avLst>
              <a:gd name="adj" fmla="val 3738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64208"/>
            <a:ext cx="1956816" cy="100584"/>
          </a:xfrm>
          <a:prstGeom prst="rect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Campaign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CSV parser · 4 smart book templates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batch ZIP · manifest · preflight QA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4381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Data to output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664208"/>
            <a:ext cx="1956816" cy="2176272"/>
          </a:xfrm>
          <a:prstGeom prst="roundRect">
            <a:avLst>
              <a:gd name="adj" fmla="val 3738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664208"/>
            <a:ext cx="1956816" cy="100584"/>
          </a:xfrm>
          <a:prstGeom prst="rect">
            <a:avLst/>
          </a:prstGeom>
          <a:solidFill>
            <a:srgbClr val="7567E8"/>
          </a:solidFill>
          <a:ln w="12700">
            <a:solidFill>
              <a:srgbClr val="756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Brand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99232" y="246888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Publisher palettes · typography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logo watermark · compliance rules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9232" y="34381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567E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02352" y="1664208"/>
            <a:ext cx="1956816" cy="2176272"/>
          </a:xfrm>
          <a:prstGeom prst="roundRect">
            <a:avLst>
              <a:gd name="adj" fmla="val 3738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2352" y="1664208"/>
            <a:ext cx="1956816" cy="100584"/>
          </a:xfrm>
          <a:prstGeom prst="rect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Editor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66944" y="246888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Free / Block layers · vector paths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Thai typography · variants · smart arrange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66944" y="34381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8A00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Composition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70064" y="1664208"/>
            <a:ext cx="1956816" cy="2176272"/>
          </a:xfrm>
          <a:prstGeom prst="roundRect">
            <a:avLst>
              <a:gd name="adj" fmla="val 3738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1664208"/>
            <a:ext cx="1956816" cy="100584"/>
          </a:xfrm>
          <a:prstGeom prst="rect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4656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Local 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34656" y="246888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Florence-2 vision · RMBG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raster Worker · VTracer WASM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34656" y="34381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A7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37776" y="1664208"/>
            <a:ext cx="1956816" cy="2176272"/>
          </a:xfrm>
          <a:prstGeom prst="roundRect">
            <a:avLst>
              <a:gd name="adj" fmla="val 3738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37776" y="1664208"/>
            <a:ext cx="1956816" cy="100584"/>
          </a:xfrm>
          <a:prstGeom prst="rect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02368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Handoff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02368" y="2468880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PNG · PDF · PPTX · editable SVG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IndexedDB · autosave · backup recovery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02368" y="34381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5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Delivery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6928" y="4343400"/>
            <a:ext cx="10991088" cy="1097280"/>
          </a:xfrm>
          <a:prstGeom prst="roundRect">
            <a:avLst>
              <a:gd name="adj" fmla="val 6667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5537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จุดแข็งที่ควรรักษา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" y="488289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local-first · editable output · Thai-aware layout · atomic editor transactions · explicit cloud consent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6928" y="5742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คำวินิจฉัย: เครื่องยนต์พร้อมต่อยอดเป็น pilot; สิ่งที่ยังขาดคือระบบงานรอบเครื่องยนต์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CURRENT-STATE ASSESSMENT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สถานะวันนี้: Pilot-ready มากกว่า Enterprise-ready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09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Creative editor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88920" y="1737360"/>
            <a:ext cx="5120640" cy="201168"/>
          </a:xfrm>
          <a:prstGeom prst="roundRect">
            <a:avLst>
              <a:gd name="adj" fmla="val 36364"/>
            </a:avLst>
          </a:prstGeom>
          <a:solidFill>
            <a:srgbClr val="E8EDF3"/>
          </a:solidFill>
          <a:ln w="10160">
            <a:solidFill>
              <a:srgbClr val="E8ED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737360"/>
            <a:ext cx="4608576" cy="201168"/>
          </a:xfrm>
          <a:prstGeom prst="roundRect">
            <a:avLst>
              <a:gd name="adj" fmla="val 36364"/>
            </a:avLst>
          </a:prstGeom>
          <a:solidFill>
            <a:srgbClr val="087FE5"/>
          </a:solidFill>
          <a:ln w="10160">
            <a:solidFill>
              <a:srgbClr val="087F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16459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/ 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97696" y="16642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Layer, vector, Thai text, variants, renderer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Production automation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88920" y="2450592"/>
            <a:ext cx="5120640" cy="201168"/>
          </a:xfrm>
          <a:prstGeom prst="roundRect">
            <a:avLst>
              <a:gd name="adj" fmla="val 36364"/>
            </a:avLst>
          </a:prstGeom>
          <a:solidFill>
            <a:srgbClr val="E8EDF3"/>
          </a:solidFill>
          <a:ln w="10160">
            <a:solidFill>
              <a:srgbClr val="E8ED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450592"/>
            <a:ext cx="4096512" cy="201168"/>
          </a:xfrm>
          <a:prstGeom prst="roundRect">
            <a:avLst>
              <a:gd name="adj" fmla="val 36364"/>
            </a:avLst>
          </a:prstGeom>
          <a:solidFill>
            <a:srgbClr val="25A77A"/>
          </a:solidFill>
          <a:ln w="10160">
            <a:solidFill>
              <a:srgbClr val="25A7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23591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A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 / 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97696" y="2377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Templates, parser, QA, batch export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AI orchestration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88920" y="3163824"/>
            <a:ext cx="5120640" cy="201168"/>
          </a:xfrm>
          <a:prstGeom prst="roundRect">
            <a:avLst>
              <a:gd name="adj" fmla="val 36364"/>
            </a:avLst>
          </a:prstGeom>
          <a:solidFill>
            <a:srgbClr val="E8EDF3"/>
          </a:solidFill>
          <a:ln w="10160">
            <a:solidFill>
              <a:srgbClr val="E8ED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3163824"/>
            <a:ext cx="4096512" cy="201168"/>
          </a:xfrm>
          <a:prstGeom prst="roundRect">
            <a:avLst>
              <a:gd name="adj" fmla="val 36364"/>
            </a:avLst>
          </a:prstGeom>
          <a:solidFill>
            <a:srgbClr val="7567E8"/>
          </a:solidFill>
          <a:ln w="10160">
            <a:solidFill>
              <a:srgbClr val="7567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307238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56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 / 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97696" y="30906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Unified chat, Director, reviewable plan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38496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Privacy / local runtime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88920" y="3877056"/>
            <a:ext cx="5120640" cy="201168"/>
          </a:xfrm>
          <a:prstGeom prst="roundRect">
            <a:avLst>
              <a:gd name="adj" fmla="val 36364"/>
            </a:avLst>
          </a:prstGeom>
          <a:solidFill>
            <a:srgbClr val="E8EDF3"/>
          </a:solidFill>
          <a:ln w="10160">
            <a:solidFill>
              <a:srgbClr val="E8ED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88920" y="3877056"/>
            <a:ext cx="4096512" cy="201168"/>
          </a:xfrm>
          <a:prstGeom prst="roundRect">
            <a:avLst>
              <a:gd name="adj" fmla="val 36364"/>
            </a:avLst>
          </a:prstGeom>
          <a:solidFill>
            <a:srgbClr val="0A9B86"/>
          </a:solidFill>
          <a:ln w="10160">
            <a:solidFill>
              <a:srgbClr val="0A9B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7856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9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 / 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97696" y="38039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Browser-local models, Worker, consent boundary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45628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Enterprise workflow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788920" y="4590288"/>
            <a:ext cx="5120640" cy="201168"/>
          </a:xfrm>
          <a:prstGeom prst="roundRect">
            <a:avLst>
              <a:gd name="adj" fmla="val 36364"/>
            </a:avLst>
          </a:prstGeom>
          <a:solidFill>
            <a:srgbClr val="E8EDF3"/>
          </a:solidFill>
          <a:ln w="10160">
            <a:solidFill>
              <a:srgbClr val="E8ED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4590288"/>
            <a:ext cx="1536192" cy="201168"/>
          </a:xfrm>
          <a:prstGeom prst="roundRect">
            <a:avLst>
              <a:gd name="adj" fmla="val 36364"/>
            </a:avLst>
          </a:prstGeom>
          <a:solidFill>
            <a:srgbClr val="FF6B5E"/>
          </a:solidFill>
          <a:ln w="10160">
            <a:solidFill>
              <a:srgbClr val="FF6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5008" y="4498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 / 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997696" y="45171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Org, workspace, approval, audit, sync ยังไม่มี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" y="5440680"/>
            <a:ext cx="10972800" cy="603504"/>
          </a:xfrm>
          <a:prstGeom prst="roundRect">
            <a:avLst>
              <a:gd name="adj" fmla="val 12121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5961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Release signal ณ 14 Sep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80360" y="5577840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typecheck ผ่าน · 1,047 tests ผ่าน / 1 skipped · lint ยังมี diagnostics ในชุด AI ที่กำลังพัฒนา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BUSINESS IMPACT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เจ้าของ ArtShift ได้ operating leverage 4 ชั้น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5212080" cy="1408176"/>
          </a:xfrm>
          <a:prstGeom prst="roundRect">
            <a:avLst>
              <a:gd name="adj" fmla="val 5195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938528"/>
            <a:ext cx="475488" cy="475488"/>
          </a:xfrm>
          <a:prstGeom prst="ellipse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0574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81328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Speed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2267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จาก brief ถึง approved asset สั้นลง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1328" y="26060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เพิ่มจำนวน campaign ที่ launch ได้ต่อสัปดาห์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664208"/>
            <a:ext cx="5212080" cy="1408176"/>
          </a:xfrm>
          <a:prstGeom prst="roundRect">
            <a:avLst>
              <a:gd name="adj" fmla="val 5195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938528"/>
            <a:ext cx="475488" cy="47548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0574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40880" y="2267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ลด designer touch time และรอบแก้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26060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ลด rework / agency / outsource ที่ไม่จำเป็น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419856"/>
            <a:ext cx="5212080" cy="1408176"/>
          </a:xfrm>
          <a:prstGeom prst="roundRect">
            <a:avLst>
              <a:gd name="adj" fmla="val 5195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694176"/>
            <a:ext cx="475488" cy="475488"/>
          </a:xfrm>
          <a:prstGeom prst="ellipse">
            <a:avLst/>
          </a:prstGeom>
          <a:solidFill>
            <a:srgbClr val="7567E8"/>
          </a:solidFill>
          <a:ln w="12700">
            <a:solidFill>
              <a:srgbClr val="7567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8130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81328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Control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81328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ข้อมูลสินค้าและแบรนด์ไม่ drift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81328" y="43616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ลดความเสี่ยงราคา ปก ชื่อผู้เขียน และ legal copy ผิด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419856"/>
            <a:ext cx="5212080" cy="1408176"/>
          </a:xfrm>
          <a:prstGeom prst="roundRect">
            <a:avLst>
              <a:gd name="adj" fmla="val 5195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694176"/>
            <a:ext cx="475488" cy="475488"/>
          </a:xfrm>
          <a:prstGeom prst="ellipse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8130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Growth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40880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ผลิตหลาย format ได้โดยไม่เพิ่มคนเป็นเส้นตรง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436168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ทดลอง creative / channel ได้ถี่ขึ้นและเรียนรู้เร็วขึ้น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5394960"/>
            <a:ext cx="10991088" cy="594360"/>
          </a:xfrm>
          <a:prstGeom prst="roundRect">
            <a:avLst>
              <a:gd name="adj" fmla="val 12308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55955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มูลค่าไม่ได้อยู่ที่การสร้างภาพเร็วขึ้นอย่างเดียว — แต่อยู่ที่การลดต้นทุนทั้งระบบของการนำสินค้าออกสู่ตลาด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POSITIONING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อย่าวาง ArtShift เป็น Canva อีกตัว — วางเป็นระบบผลิต creative ของธุรกิจหนังสือ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749040" cy="4133088"/>
          </a:xfrm>
          <a:prstGeom prst="roundRect">
            <a:avLst>
              <a:gd name="adj" fmla="val 1951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3852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Creative Operations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for Book Commerce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จาก catalog metadata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สู่ approved media pack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4773168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087FE5"/>
          </a:solidFill>
          <a:ln w="10160">
            <a:solidFill>
              <a:srgbClr val="087F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823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WEDGE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5184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4D4E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Publisher marketing · Merchandising · E-commerce · In-house design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82896" y="1773936"/>
            <a:ext cx="128016" cy="128016"/>
          </a:xfrm>
          <a:prstGeom prst="ellipse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Metadata-aware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93792" y="193852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ISBN / ราคา / promotion เป็น source of truth ไม่ให้ AI แต่งเอง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93792" y="2432304"/>
            <a:ext cx="571500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2779776"/>
            <a:ext cx="128016" cy="128016"/>
          </a:xfrm>
          <a:prstGeom prst="ellipse">
            <a:avLst/>
          </a:prstGeom>
          <a:solidFill>
            <a:srgbClr val="7567E8"/>
          </a:solidFill>
          <a:ln w="12700">
            <a:solidFill>
              <a:srgbClr val="756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2633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Rights-aware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93792" y="29443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asset, owner, territory, expiry อยู่ใน flow เดียวกัน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93792" y="3438144"/>
            <a:ext cx="571500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82896" y="3785616"/>
            <a:ext cx="128016" cy="128016"/>
          </a:xfrm>
          <a:prstGeom prst="ellipse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3639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Thai-native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93792" y="39502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ภาษาไทย ฟอนต์ และการตัดบรรทัดเป็น capability หลัก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93792" y="4443984"/>
            <a:ext cx="571500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82896" y="4791456"/>
            <a:ext cx="128016" cy="128016"/>
          </a:xfrm>
          <a:prstGeom prst="ellipse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4645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Editable + QA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93792" y="495604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ไม่จบที่ภาพแบน — ทุก output แก้ต่อได้และตรวจได้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93792" y="5449824"/>
            <a:ext cx="5715000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55595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5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ไม่ควรเริ่มด้วย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55595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generic text-to-image · full DAM · full video editor · social scheduler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FUTURE OPERATING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จาก editor เดี่ยว สู่ 4 ชั้นของ Creative Operations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2395728" cy="2304288"/>
          </a:xfrm>
          <a:prstGeom prst="roundRect">
            <a:avLst>
              <a:gd name="adj" fmla="val 3175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00784"/>
            <a:ext cx="2395728" cy="109728"/>
          </a:xfrm>
          <a:prstGeom prst="rect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Studio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" y="26517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ออกแบบ smart template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แก้รายละเอียดต่อได้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" y="347472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34838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Now → Pilot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2834640"/>
            <a:ext cx="256032" cy="0"/>
          </a:xfrm>
          <a:prstGeom prst="line">
            <a:avLst/>
          </a:prstGeom>
          <a:noFill/>
          <a:ln w="2159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37560" y="1700784"/>
            <a:ext cx="2395728" cy="2304288"/>
          </a:xfrm>
          <a:prstGeom prst="roundRect">
            <a:avLst>
              <a:gd name="adj" fmla="val 3175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700784"/>
            <a:ext cx="2395728" cy="109728"/>
          </a:xfrm>
          <a:prstGeom prst="rect">
            <a:avLst/>
          </a:prstGeom>
          <a:solidFill>
            <a:srgbClr val="7567E8"/>
          </a:solidFill>
          <a:ln w="12700">
            <a:solidFill>
              <a:srgbClr val="756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Ops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38728" y="26517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catalog · rights · version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request · approval · audit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38728" y="347472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34838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567E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Phase 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88152" y="2834640"/>
            <a:ext cx="256032" cy="0"/>
          </a:xfrm>
          <a:prstGeom prst="line">
            <a:avLst/>
          </a:prstGeom>
          <a:noFill/>
          <a:ln w="2159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08192" y="1700784"/>
            <a:ext cx="2395728" cy="2304288"/>
          </a:xfrm>
          <a:prstGeom prst="roundRect">
            <a:avLst>
              <a:gd name="adj" fmla="val 3175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1700784"/>
            <a:ext cx="2395728" cy="109728"/>
          </a:xfrm>
          <a:prstGeom prst="rect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Render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26517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queue · retry · idempotency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batch output · QA report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47472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838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A00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Phase 1–2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58784" y="2834640"/>
            <a:ext cx="256032" cy="0"/>
          </a:xfrm>
          <a:prstGeom prst="line">
            <a:avLst/>
          </a:prstGeom>
          <a:noFill/>
          <a:ln w="2159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78824" y="1700784"/>
            <a:ext cx="2395728" cy="2304288"/>
          </a:xfrm>
          <a:prstGeom prst="roundRect">
            <a:avLst>
              <a:gd name="adj" fmla="val 3175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78824" y="1700784"/>
            <a:ext cx="2395728" cy="109728"/>
          </a:xfrm>
          <a:prstGeom prst="rect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9992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Network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079992" y="26517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approved media pack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ระหว่าง publisher–retailer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79992" y="347472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9992" y="34838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A7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12+ months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4535424"/>
            <a:ext cx="10991088" cy="1033272"/>
          </a:xfrm>
          <a:prstGeom prst="roundRect">
            <a:avLst>
              <a:gd name="adj" fmla="val 7080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7548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Moat ที่แท้จริง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542032" y="47274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approved metadata + reusable templates + provenance + outcome feedback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2542032" y="51023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6C6D9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เมื่อระบบนี้สะสมมากขึ้น การย้ายออกจะยากขึ้น เพราะ workflow และ knowledge ฝังอยู่ในองค์กร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PILOT AND BUSINESS CASE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พิสูจน์ ROI ด้วย campaign เดียวที่มีปริมาณสูงและทำซ้ำทุกสัปดาห์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2880360" cy="4206240"/>
          </a:xfrm>
          <a:prstGeom prst="roundRect">
            <a:avLst>
              <a:gd name="adj" fmla="val 2540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Pilot hypothesis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โปรโมชันหนังสือ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100–500 SKU / สัปดาห์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4E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ทีมเล็ก: Designer 2 · Marketing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D4E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Merchandising 1 · Product/Eng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5047488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87FE5"/>
          </a:solidFill>
          <a:ln w="10160">
            <a:solidFill>
              <a:srgbClr val="087F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566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6–10 WEEKS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75104" y="5010912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B6C6D9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5 นาที = สมมติฐานสำหรับ pilot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B6C6D9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ไม่ใช่คำสัญญาทางการตลาด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822192" y="1664208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6784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Lead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86784" y="2203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request → approved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64224" y="1664208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Touch 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28816" y="2203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ชั่วโมงต่อ SKU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06256" y="1664208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0848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Revisions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70848" y="2203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รอบแก้ต่อ campaign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22192" y="310896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6784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Mismatch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86784" y="3648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ข้อมูลผิด / ตกหล่น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64224" y="310896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Manual steps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28816" y="3648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export / rename / upload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906256" y="3108960"/>
            <a:ext cx="22402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Reuse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70848" y="3648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output จาก template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22192" y="4645152"/>
            <a:ext cx="7434072" cy="822960"/>
          </a:xfrm>
          <a:prstGeom prst="roundRect">
            <a:avLst>
              <a:gd name="adj" fmla="val 8889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48280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4800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(ชั่วโมงก่อน − ชั่วโมงหลัง) × loaded hourly cost + outsource/rework ที่เลี่ยงได้ − cloud/AI/support cost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22192" y="566928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หลักการ: วัด baseline 2–4 สัปดาห์ก่อน แล้วเทียบกับ campaign ที่รูปแบบใกล้กัน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TARGET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ข้อมูลหนังสือหนึ่งชุด ไหลไปเป็น creative pack ที่อนุมัติแล้ว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20240"/>
            <a:ext cx="73152" cy="932688"/>
          </a:xfrm>
          <a:prstGeom prst="rect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4825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ERP / PIM / Excel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cover + rights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67128" y="2386584"/>
            <a:ext cx="228600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68880" y="1920240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920240"/>
            <a:ext cx="73152" cy="932688"/>
          </a:xfrm>
          <a:prstGeom prst="rect">
            <a:avLst/>
          </a:prstGeom>
          <a:solidFill>
            <a:srgbClr val="7567E8"/>
          </a:solidFill>
          <a:ln w="12700">
            <a:solidFill>
              <a:srgbClr val="756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04825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33472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map field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เช็ค ISBN / ราคา / วันที่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69080" y="2386584"/>
            <a:ext cx="228600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70832" y="1920240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920240"/>
            <a:ext cx="73152" cy="932688"/>
          </a:xfrm>
          <a:prstGeom prst="rect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204825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Compose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35424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smart template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brand + data binding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71032" y="2386584"/>
            <a:ext cx="228600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72784" y="1920240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1920240"/>
            <a:ext cx="73152" cy="932688"/>
          </a:xfrm>
          <a:prstGeom prst="rect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204825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Render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37376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SKU × channel × size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progress + retry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72984" y="2386584"/>
            <a:ext cx="228600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74736" y="1920240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74736" y="1920240"/>
            <a:ext cx="73152" cy="932688"/>
          </a:xfrm>
          <a:prstGeom prst="rect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204825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QA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39328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overflow · resolution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brand / data mismatch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774936" y="2386584"/>
            <a:ext cx="228600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76688" y="1920240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76688" y="1920240"/>
            <a:ext cx="73152" cy="932688"/>
          </a:xfrm>
          <a:prstGeom prst="rect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0" y="204825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Approve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241280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human review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version + provenance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" y="340156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outputs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481328" y="3346704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81328" y="335584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e-commerce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21608" y="3346704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21608" y="3355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A7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social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61888" y="3346704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61888" y="335584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in-store / print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02168" y="3346704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02168" y="335584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A7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catalog / media pack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" y="42519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5079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Source of truth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2960" y="48828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ISBN · title · author · price · promo dates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legal copy · rights · approved asset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36208" y="4251960"/>
            <a:ext cx="5321808" cy="1234440"/>
          </a:xfrm>
          <a:prstGeom prst="roundRect">
            <a:avLst>
              <a:gd name="adj" fmla="val 5926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4507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5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AI ใช้ตรงไหน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92240" y="48828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draft copy · crop / focal point · background removal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layout suggestion · error explanation — ทุก output มีคนตรวจรับ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APPENDIX · AI CHAT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AI Chat ไม่ได้ “ตอบอย่างเดียว” — มันเลือกวิธีทำงานตาม intent และความเสี่ยง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874520" cy="987552"/>
          </a:xfrm>
          <a:prstGeom prst="roundRect">
            <a:avLst>
              <a:gd name="adj" fmla="val 7407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8366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User prompt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762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ข้อความ + selected context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+ canvas / image refs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78608" y="2185416"/>
            <a:ext cx="548640" cy="0"/>
          </a:xfrm>
          <a:prstGeom prst="line">
            <a:avLst/>
          </a:prstGeom>
          <a:noFill/>
          <a:ln w="25400">
            <a:solidFill>
              <a:srgbClr val="087FE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46120" y="1691640"/>
            <a:ext cx="2057400" cy="987552"/>
          </a:xfrm>
          <a:prstGeom prst="roundRect">
            <a:avLst>
              <a:gd name="adj" fmla="val 7407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8653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Intent + 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02152" y="216712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classify simple / complex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ตรวจว่าต้องใช้ vision ไหม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31536" y="2185416"/>
            <a:ext cx="530352" cy="0"/>
          </a:xfrm>
          <a:prstGeom prst="line">
            <a:avLst/>
          </a:prstGeom>
          <a:noFill/>
          <a:ln w="25400">
            <a:solidFill>
              <a:srgbClr val="087FE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705856" y="18470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route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44768" y="1554480"/>
            <a:ext cx="1591056" cy="1325880"/>
          </a:xfrm>
          <a:prstGeom prst="roundRect">
            <a:avLst>
              <a:gd name="adj" fmla="val 5517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7556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Local plan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2075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canvas inventory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simple edit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2578608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5877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A7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ไม่ออกจากเครื่อง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55280" y="1554480"/>
            <a:ext cx="1591056" cy="1325880"/>
          </a:xfrm>
          <a:prstGeom prst="roundRect">
            <a:avLst>
              <a:gd name="adj" fmla="val 5517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3296" y="17556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Built-in tool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83296" y="2075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insert / update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background / delete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19872" y="2578608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25877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A00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atomic + undo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65792" y="1554480"/>
            <a:ext cx="1591056" cy="1325880"/>
          </a:xfrm>
          <a:prstGeom prst="roundRect">
            <a:avLst>
              <a:gd name="adj" fmla="val 5517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17556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Design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93808" y="2075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complex design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หลาย step / reference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30384" y="2578608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30384" y="25877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567E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consent + review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2960" y="3785616"/>
            <a:ext cx="1037844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กติกาความปลอดภัยของ flow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6928" y="4572000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77316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Remote output = untrusted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" y="5102352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parse + validate ก่อนเข้า editor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88536" y="4572000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1416" y="477316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Proposal = reviewable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71416" y="5102352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ผู้ใช้เห็น plan / commands ก่อน Apply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10144" y="4572000"/>
            <a:ext cx="33649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93024" y="4773168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Apply = atomic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93024" y="5102352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commit ผ่าน engine store และอยู่ใน undo timeline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APPENDIX · LOCAL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โหลด Local Model แบบ on-demand: เก็บ privacy และรักษาความลื่นของ editor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554480" cy="1115568"/>
          </a:xfrm>
          <a:prstGeom prst="roundRect">
            <a:avLst>
              <a:gd name="adj" fmla="val 6557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0299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requested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9696" y="2295144"/>
            <a:ext cx="237744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50592" y="1737360"/>
            <a:ext cx="1554480" cy="1115568"/>
          </a:xfrm>
          <a:prstGeom prst="roundRect">
            <a:avLst>
              <a:gd name="adj" fmla="val 6557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20299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Model Registry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lazy state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2295144"/>
            <a:ext cx="237744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34256" y="1737360"/>
            <a:ext cx="1554480" cy="1115568"/>
          </a:xfrm>
          <a:prstGeom prst="roundRect">
            <a:avLst>
              <a:gd name="adj" fmla="val 6557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20299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Browser cache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IndexedDB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7024" y="2295144"/>
            <a:ext cx="237744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737360"/>
            <a:ext cx="1554480" cy="1115568"/>
          </a:xfrm>
          <a:prstGeom prst="roundRect">
            <a:avLst>
              <a:gd name="adj" fmla="val 6557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0299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Worker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OffscreenCanvas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90688" y="2295144"/>
            <a:ext cx="237744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01584" y="1737360"/>
            <a:ext cx="1554480" cy="1115568"/>
          </a:xfrm>
          <a:prstGeom prst="roundRect">
            <a:avLst>
              <a:gd name="adj" fmla="val 6557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0299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Inference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progress + cancel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74352" y="2295144"/>
            <a:ext cx="237744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85248" y="1737360"/>
            <a:ext cx="1554480" cy="1115568"/>
          </a:xfrm>
          <a:prstGeom prst="roundRect">
            <a:avLst>
              <a:gd name="adj" fmla="val 6557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13264" y="202996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Preview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337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สถานะที่ผู้ใช้มองเห็นได้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70632" y="3310128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0632" y="331927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Lazy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13632" y="3310128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331927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A00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Loading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56632" y="3310128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6632" y="331927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A7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Loaded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99632" y="3310128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331927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567E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Cached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42632" y="3310128"/>
            <a:ext cx="859536" cy="292608"/>
          </a:xfrm>
          <a:prstGeom prst="roundRect">
            <a:avLst>
              <a:gd name="adj" fmla="val 25000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331927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5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Failed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4069080"/>
            <a:ext cx="52303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4279392"/>
            <a:ext cx="137160" cy="137160"/>
          </a:xfrm>
          <a:prstGeom prst="ellipse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4187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Florence-2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14016" y="41879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caption · OCR · grounding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4224528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0160">
            <a:solidFill>
              <a:srgbClr val="F7F8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42336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vision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4069080"/>
            <a:ext cx="52303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4279392"/>
            <a:ext cx="137160" cy="137160"/>
          </a:xfrm>
          <a:prstGeom prst="ellipse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4187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RMBG-1.4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973568" y="41879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remove background · extract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588752" y="4224528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0160">
            <a:solidFill>
              <a:srgbClr val="F7F8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88752" y="42336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A7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image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" y="4910328"/>
            <a:ext cx="52303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" y="5120640"/>
            <a:ext cx="137160" cy="137160"/>
          </a:xfrm>
          <a:prstGeom prst="ellipse">
            <a:avLst/>
          </a:prstGeom>
          <a:solidFill>
            <a:srgbClr val="7567E8"/>
          </a:solidFill>
          <a:ln w="12700">
            <a:solidFill>
              <a:srgbClr val="7567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128" y="5029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VTracer WASM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414016" y="50292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raster → editable vector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0" y="5065776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0160">
            <a:solidFill>
              <a:srgbClr val="F7F8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50749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567E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algorithm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26480" y="4910328"/>
            <a:ext cx="523036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5120640"/>
            <a:ext cx="137160" cy="137160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5029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Raster Worker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973568" y="50292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mask · filter · thumbnail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588752" y="5065776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0160">
            <a:solidFill>
              <a:srgbClr val="F7F8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88752" y="50749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5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pixel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613648" y="5166360"/>
            <a:ext cx="2926080" cy="804672"/>
          </a:xfrm>
          <a:prstGeom prst="roundRect">
            <a:avLst>
              <a:gd name="adj" fmla="val 9091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69680" y="5340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Local path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875520" y="52852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ภาพไม่ถูก upload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จนกว่าผู้ใช้จะเลือก cloud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APPENDIX · CLOUD BOUNDARY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เมื่อจำเป็นต้องใช้ Cloud AI: consent, alias, adapter และ quality gate ต้องอยู่ในเส้นทางเดียวกัน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1938528" cy="1865376"/>
          </a:xfrm>
          <a:prstGeom prst="roundRect">
            <a:avLst>
              <a:gd name="adj" fmla="val 3922"/>
            </a:avLst>
          </a:prstGeom>
          <a:solidFill>
            <a:srgbClr val="FFF8E6"/>
          </a:solidFill>
          <a:ln w="10160">
            <a:solidFill>
              <a:srgbClr val="FFF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20240"/>
            <a:ext cx="310896" cy="310896"/>
          </a:xfrm>
          <a:prstGeom prst="ellipse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025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019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Explicit consent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ผู้ใช้กดอนุญาต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 silent upload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2596896"/>
            <a:ext cx="237744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1664208"/>
            <a:ext cx="1938528" cy="1865376"/>
          </a:xfrm>
          <a:prstGeom prst="roundRect">
            <a:avLst>
              <a:gd name="adj" fmla="val 3922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1920240"/>
            <a:ext cx="310896" cy="310896"/>
          </a:xfrm>
          <a:prstGeom prst="ellipse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0025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56432" y="19019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Task alias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UI เลือก capability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ไม่ผูกกับ provider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9744" y="2596896"/>
            <a:ext cx="237744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02352" y="1664208"/>
            <a:ext cx="1938528" cy="1865376"/>
          </a:xfrm>
          <a:prstGeom prst="roundRect">
            <a:avLst>
              <a:gd name="adj" fmla="val 3922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1920240"/>
            <a:ext cx="310896" cy="310896"/>
          </a:xfrm>
          <a:prstGeom prst="ellipse">
            <a:avLst/>
          </a:prstGeom>
          <a:solidFill>
            <a:srgbClr val="7567E8"/>
          </a:solidFill>
          <a:ln w="12700">
            <a:solidFill>
              <a:srgbClr val="7567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20025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24144" y="19019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Provider adapter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BYOK / server route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secret อยู่ฝั่ง server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77456" y="2596896"/>
            <a:ext cx="237744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70064" y="1664208"/>
            <a:ext cx="1938528" cy="1865376"/>
          </a:xfrm>
          <a:prstGeom prst="roundRect">
            <a:avLst>
              <a:gd name="adj" fmla="val 3922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52944" y="1920240"/>
            <a:ext cx="310896" cy="310896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2944" y="20025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91856" y="19019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Validate + gate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52944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ตรวจ output / cost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ก่อนส่งกลับ editor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45168" y="2596896"/>
            <a:ext cx="237744" cy="0"/>
          </a:xfrm>
          <a:prstGeom prst="line">
            <a:avLst/>
          </a:prstGeom>
          <a:noFill/>
          <a:ln w="1778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37776" y="1664208"/>
            <a:ext cx="1938528" cy="1865376"/>
          </a:xfrm>
          <a:prstGeom prst="roundRect">
            <a:avLst>
              <a:gd name="adj" fmla="val 3922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20656" y="1920240"/>
            <a:ext cx="310896" cy="310896"/>
          </a:xfrm>
          <a:prstGeom prst="ellipse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0656" y="200253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59568" y="19019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Review + apply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20656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remote plan เป็น proposal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ผู้ใช้ Apply เอง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4096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Guardrails ที่มีอยู่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8368" y="4553712"/>
            <a:ext cx="109728" cy="109728"/>
          </a:xfrm>
          <a:prstGeom prst="ellipse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4489704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Fallback ปิดเป็นค่าเริ่มต้น — กันการจ่ายเงินซ้ำโดยไม่ตั้งใจ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8368" y="4901184"/>
            <a:ext cx="109728" cy="109728"/>
          </a:xfrm>
          <a:prstGeom prst="ellipse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4837176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 / prompt ไม่ถูกเขียนลง log; cache ใช้ digest ไม่เก็บ raw payload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368" y="5248656"/>
            <a:ext cx="109728" cy="109728"/>
          </a:xfrm>
          <a:prstGeom prst="ellipse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518464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server ไม่รับ arbitrary model/provider จาก UI; ใช้ stable alias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8368" y="5596128"/>
            <a:ext cx="109728" cy="109728"/>
          </a:xfrm>
          <a:prstGeom prst="ellipse">
            <a:avLst/>
          </a:prstGeom>
          <a:solidFill>
            <a:srgbClr val="25A77A"/>
          </a:solidFill>
          <a:ln w="12700">
            <a:solidFill>
              <a:srgbClr val="25A7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5532120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current branch: image route baseline เปลี่ยนเป็น GPT Image 2.5 Sunburst ได้โดยไม่เปลี่ยน UI contract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APPENDIX ·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โครงสร้างถูกแยกเป็น seam ที่ทำให้เพิ่ม provider หรือ desktop runtime ได้โดยไม่รื้อ editor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2194560" cy="1225296"/>
          </a:xfrm>
          <a:prstGeom prst="roundRect">
            <a:avLst>
              <a:gd name="adj" fmla="val 5970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288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UI surfaces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176272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CoPilot · Canvas · Model Manager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34640" y="2240280"/>
            <a:ext cx="182880" cy="0"/>
          </a:xfrm>
          <a:prstGeom prst="line">
            <a:avLst/>
          </a:prstGeom>
          <a:noFill/>
          <a:ln w="2032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1645920"/>
            <a:ext cx="2743200" cy="1225296"/>
          </a:xfrm>
          <a:prstGeom prst="roundRect">
            <a:avLst>
              <a:gd name="adj" fmla="val 5970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82880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Domain seams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17627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Engine Store · Orchestrator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RasterProcessor · Brand Rules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25312" y="2240280"/>
            <a:ext cx="219456" cy="0"/>
          </a:xfrm>
          <a:prstGeom prst="line">
            <a:avLst/>
          </a:prstGeom>
          <a:noFill/>
          <a:ln w="2032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36208" y="1645920"/>
            <a:ext cx="2560320" cy="1225296"/>
          </a:xfrm>
          <a:prstGeom prst="roundRect">
            <a:avLst>
              <a:gd name="adj" fmla="val 5970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82880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Platform adapters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9088" y="2176272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IndexedDB · Worker · WASM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optional API / desktop ports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69680" y="2240280"/>
            <a:ext cx="219456" cy="0"/>
          </a:xfrm>
          <a:prstGeom prst="line">
            <a:avLst/>
          </a:prstGeom>
          <a:noFill/>
          <a:ln w="20320">
            <a:solidFill>
              <a:srgbClr val="D8E0E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80576" y="1645920"/>
            <a:ext cx="2377440" cy="1225296"/>
          </a:xfrm>
          <a:prstGeom prst="roundRect">
            <a:avLst>
              <a:gd name="adj" fmla="val 5970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63456" y="182880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External providers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63456" y="21762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Replicate · Google · OpenAI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BYOK adapters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310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cross-cutting controls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33472" y="3273552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0160">
            <a:solidFill>
              <a:srgbClr val="F7F8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328269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consent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3273552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016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32826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budget / usage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04688" y="3273552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016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32826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cache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0296" y="3273552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016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0296" y="328269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75904" y="3273552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0160">
            <a:solidFill>
              <a:srgbClr val="F7F8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75904" y="32826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telemetry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811512" y="3273552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11512" y="3282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5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audit (future)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4069080"/>
            <a:ext cx="10991088" cy="1280160"/>
          </a:xfrm>
          <a:prstGeom prst="roundRect">
            <a:avLst>
              <a:gd name="adj" fmla="val 5714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352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Boundary that matters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999232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lib/engine/store.ts = transaction boundary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999232" y="4709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4D4E7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UI ขอ operation → domain validates → one atomic mutation → renderer/exporters consume canonical state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9536" y="523036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provider-native fields หยุดอยู่ใน adapter; product contract จึงไม่ผูกกับ vendor รายเดียว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90 วันถัดไป: เปลี่ยน engine ที่ดี ให้กลายเป็น workflow ที่พิสูจน์ ROI ได้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099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92256" y="384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09344"/>
            <a:ext cx="5212080" cy="1261872"/>
          </a:xfrm>
          <a:prstGeom prst="roundRect">
            <a:avLst>
              <a:gd name="adj" fmla="val 5797"/>
            </a:avLst>
          </a:prstGeom>
          <a:solidFill>
            <a:srgbClr val="FFF0EE"/>
          </a:solidFill>
          <a:ln w="10160">
            <a:solidFill>
              <a:srgbClr val="FFF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828800"/>
            <a:ext cx="42062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3794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5E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08176" y="1792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Pilot hardening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08176" y="21945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เก็บ lint / visual QA / persistence edge cases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ทำให้ release ที่ให้ทีมใช้มีความน่าเชื่อถือ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609344"/>
            <a:ext cx="5212080" cy="1261872"/>
          </a:xfrm>
          <a:prstGeom prst="roundRect">
            <a:avLst>
              <a:gd name="adj" fmla="val 5797"/>
            </a:avLst>
          </a:prstGeom>
          <a:solidFill>
            <a:srgbClr val="EAF4FF"/>
          </a:solidFill>
          <a:ln w="10160">
            <a:solidFill>
              <a:srgbClr val="EAF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5936" y="1828800"/>
            <a:ext cx="42062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183794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FE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67728" y="1792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Campaign foundation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67728" y="21945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canonical book schema · data binding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conditional rules · edge-case preview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200400"/>
            <a:ext cx="5212080" cy="1261872"/>
          </a:xfrm>
          <a:prstGeom prst="roundRect">
            <a:avLst>
              <a:gd name="adj" fmla="val 5797"/>
            </a:avLst>
          </a:prstGeom>
          <a:solidFill>
            <a:srgbClr val="F0EEFF"/>
          </a:solidFill>
          <a:ln w="10160">
            <a:solidFill>
              <a:srgbClr val="F0EE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419856"/>
            <a:ext cx="42062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429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567E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08176" y="33832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Enterprise loop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08176" y="3785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org / workspace · storage · versioning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approval · audit · role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3200400"/>
            <a:ext cx="5212080" cy="1261872"/>
          </a:xfrm>
          <a:prstGeom prst="roundRect">
            <a:avLst>
              <a:gd name="adj" fmla="val 5797"/>
            </a:avLst>
          </a:prstGeom>
          <a:solidFill>
            <a:srgbClr val="E8FBF7"/>
          </a:solidFill>
          <a:ln w="10160">
            <a:solidFill>
              <a:srgbClr val="E8FB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5936" y="3419856"/>
            <a:ext cx="42062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429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A77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67728" y="33832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B2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67728" y="3785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baseline → after · lead time · mismatch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rework · outsource · repeat campaign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5010912"/>
            <a:ext cx="10991088" cy="749808"/>
          </a:xfrm>
          <a:prstGeom prst="roundRect">
            <a:avLst>
              <a:gd name="adj" fmla="val 9756"/>
            </a:avLst>
          </a:prstGeom>
          <a:solidFill>
            <a:srgbClr val="0E1B2D"/>
          </a:solidFill>
          <a:ln w="10160">
            <a:solidFill>
              <a:srgbClr val="0E1B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2303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Decision gate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31720" y="51663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อย่าเปิดตลาดกว้างก่อนเห็น baseline / after จาก campaign จริงหนึ่งชุด และยืนยันว่าข้อมูล–สิทธิ์–approval อยู่ในเส้นทางเดียวกัน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0352" y="662025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· Product review · 14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87FE5"/>
          </a:solidFill>
          <a:ln w="12700">
            <a:solidFill>
              <a:srgbClr val="087F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594360"/>
            <a:ext cx="4114800" cy="4114800"/>
          </a:xfrm>
          <a:prstGeom prst="arc">
            <a:avLst/>
          </a:prstGeom>
          <a:solidFill>
            <a:srgbClr val="087FE5">
              <a:alpha val="65000"/>
            </a:srgbClr>
          </a:solidFill>
          <a:ln w="12700">
            <a:solidFill>
              <a:srgbClr val="087FE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4389120"/>
            <a:ext cx="3383280" cy="3383280"/>
          </a:xfrm>
          <a:prstGeom prst="arc">
            <a:avLst/>
          </a:prstGeom>
          <a:solidFill>
            <a:srgbClr val="5ED7C4">
              <a:alpha val="82000"/>
            </a:srgbClr>
          </a:solidFill>
          <a:ln w="12700">
            <a:solidFill>
              <a:srgbClr val="5ED7C4">
                <a:alpha val="0"/>
              </a:srgbClr>
            </a:solidFill>
            <a:prstDash val="solid"/>
          </a:ln>
        </p:spPr>
      </p:sp>
      <p:pic>
        <p:nvPicPr>
          <p:cNvPr id="5" name="Image 0" descr="/opt/artshift/public/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6656" y="6400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749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" y="1828800"/>
            <a:ext cx="8961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Own the production workflow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before owning the marketplace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DEB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 มีแกนเทคโนโลยีที่พร้อมแล้ว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DEB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สิ่งที่ต้องสร้างต่อคือระบบงานที่ทำให้ทุก campaign เร็วขึ้น ถูกต้องขึ้น และสะสมเป็น moat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48463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087FE5"/>
          </a:solidFill>
          <a:ln w="10160">
            <a:solidFill>
              <a:srgbClr val="087F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5047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Next move: เลือก 1 campaign · 1 owner · 1 baseline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18320" y="59893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ED7C4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ARTSHIFT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40880" y="633679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6C6D9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Creative Operations for Book Commerce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ArtShift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ArtShift — From Design Tool to Creative Operations</dc:title>
  <dc:subject>ArtShift product and marketing impact assessment</dc:subject>
  <dc:creator>OpenAI Codex</dc:creator>
  <cp:lastModifiedBy>OpenAI Codex</cp:lastModifiedBy>
  <cp:revision>1</cp:revision>
  <dcterms:created xsi:type="dcterms:W3CDTF">2026-09-14T06:39:38Z</dcterms:created>
  <dcterms:modified xsi:type="dcterms:W3CDTF">2026-09-14T06:39:38Z</dcterms:modified>
</cp:coreProperties>
</file>